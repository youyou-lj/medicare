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f235e924ba94a4f" /><Relationship Type="http://schemas.openxmlformats.org/package/2006/relationships/metadata/core-properties" Target="/docProps/core.xml" Id="R35397bfafb784cc1" /><Relationship Type="http://schemas.openxmlformats.org/officeDocument/2006/relationships/extended-properties" Target="/docProps/app.xml" Id="Rd871c52155074d1f" /><Relationship Type="http://schemas.openxmlformats.org/officeDocument/2006/relationships/custom-properties" Target="/docProps/custom.xml" Id="R869e564563af475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371509d9cb8c431f"/>
    <p:sldId id="257" r:id="R0bf201dab6cd430e"/>
    <p:sldId id="258" r:id="R7c8bf4f1757c4bf8"/>
    <p:sldId id="259" r:id="R830c82ae39db4199"/>
    <p:sldId id="260" r:id="R18bcf38e271649b8"/>
    <p:sldId id="261" r:id="Rb078853b30474595"/>
    <p:sldId id="262" r:id="Rad23b8cb9a7842bc"/>
    <p:sldId id="263" r:id="R8c40cc44a6c04feb"/>
    <p:sldId id="264" r:id="R64e4f29cdeb3435c"/>
    <p:sldId id="265" r:id="R91f926dcefbc43a3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71509d9cb8c431f" /><Relationship Type="http://schemas.openxmlformats.org/officeDocument/2006/relationships/slide" Target="/ppt/slides/slide2.xml" Id="R0bf201dab6cd430e" /><Relationship Type="http://schemas.openxmlformats.org/officeDocument/2006/relationships/slide" Target="/ppt/slides/slide3.xml" Id="R7c8bf4f1757c4bf8" /><Relationship Type="http://schemas.openxmlformats.org/officeDocument/2006/relationships/slide" Target="/ppt/slides/slide4.xml" Id="R830c82ae39db4199" /><Relationship Type="http://schemas.openxmlformats.org/officeDocument/2006/relationships/slide" Target="/ppt/slides/slide5.xml" Id="R18bcf38e271649b8" /><Relationship Type="http://schemas.openxmlformats.org/officeDocument/2006/relationships/slide" Target="/ppt/slides/slide6.xml" Id="Rb078853b30474595" /><Relationship Type="http://schemas.openxmlformats.org/officeDocument/2006/relationships/slide" Target="/ppt/slides/slide7.xml" Id="Rad23b8cb9a7842bc" /><Relationship Type="http://schemas.openxmlformats.org/officeDocument/2006/relationships/slide" Target="/ppt/slides/slide8.xml" Id="R8c40cc44a6c04feb" /><Relationship Type="http://schemas.openxmlformats.org/officeDocument/2006/relationships/slide" Target="/ppt/slides/slide9.xml" Id="R64e4f29cdeb3435c" /><Relationship Type="http://schemas.openxmlformats.org/officeDocument/2006/relationships/slide" Target="/ppt/slides/slide10.xml" Id="R91f926dcefbc43a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cf3984d7447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bc5cceddaf4b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b04b1811044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14b8612a748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94088fe1b428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6950793f35740e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bg>
      <p:bgPr>
        <a:gradFill xmlns:a="http://schemas.openxmlformats.org/drawingml/2006/main">
          <a:gsLst>
            <a:gs pos="0">
              <a:srgbClr val="1A1A2E"/>
            </a:gs>
            <a:gs pos="100000">
              <a:srgbClr val="007EA7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0" y="6660000"/>
            <a:ext cx="1219212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E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0" y="0"/>
            <a:ext cx="1219212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E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360000" y="6768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MediCare 智慧医疗门诊管理系统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c9d8371ace48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9867ffc3324e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8fe0b329f248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22e9aba4bca40bb" /><Relationship Type="http://schemas.openxmlformats.org/officeDocument/2006/relationships/image" Target="/ppt/media/image.png" Id="R95fd5d70759f45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a0740e078c745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c9640ab0494460b" /><Relationship Type="http://schemas.openxmlformats.org/officeDocument/2006/relationships/image" Target="/ppt/media/image2.png" Id="Rb34a663a19fa42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b1897504f9342cd" /><Relationship Type="http://schemas.openxmlformats.org/officeDocument/2006/relationships/image" Target="/ppt/media/image3.png" Id="R4d11a774ed974f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a404fe150744ddb" /><Relationship Type="http://schemas.openxmlformats.org/officeDocument/2006/relationships/image" Target="/ppt/media/image4.png" Id="R46f96906400142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e999a75ed4c4210" /><Relationship Type="http://schemas.openxmlformats.org/officeDocument/2006/relationships/image" Target="/ppt/media/image5.png" Id="R9c4d1bb4ba584e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b458893be0e4bb1" /><Relationship Type="http://schemas.openxmlformats.org/officeDocument/2006/relationships/image" Target="/ppt/media/image6.png" Id="R4a88a6513aaf4c81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JavaFX 桌面应用开发与分层架构实战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项目案例：MediCare 智慧医疗门诊管理系统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课程目录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1. 项目概览与技术栈</a:t>
            </a:r>
          </a:p>
          <a:p xmlns:a="http://schemas.openxmlformats.org/drawingml/2006/main">
            <a:r>
              <a:rPr lang="en-US"/>
              <a:t>2. 开发环境与工具链</a:t>
            </a:r>
          </a:p>
          <a:p xmlns:a="http://schemas.openxmlformats.org/drawingml/2006/main">
            <a:r>
              <a:rPr lang="en-US"/>
              <a:t>3. Git 协作规范</a:t>
            </a:r>
          </a:p>
          <a:p xmlns:a="http://schemas.openxmlformats.org/drawingml/2006/main">
            <a:r>
              <a:rPr lang="en-US"/>
              <a:t>4. JavaFX 基础与 SceneBuilder</a:t>
            </a:r>
          </a:p>
          <a:p xmlns:a="http://schemas.openxmlformats.org/drawingml/2006/main">
            <a:r>
              <a:rPr lang="en-US"/>
              <a:t>5. JavaFX 布局详解</a:t>
            </a:r>
          </a:p>
          <a:p xmlns:a="http://schemas.openxmlformats.org/drawingml/2006/main">
            <a:r>
              <a:rPr lang="en-US"/>
              <a:t>6. TableView 与数据绑定</a:t>
            </a:r>
          </a:p>
          <a:p xmlns:a="http://schemas.openxmlformats.org/drawingml/2006/main">
            <a:r>
              <a:rPr lang="en-US"/>
              <a:t>7. 多层架构思想</a:t>
            </a:r>
          </a:p>
          <a:p xmlns:a="http://schemas.openxmlformats.org/drawingml/2006/main">
            <a:r>
              <a:rPr lang="en-US"/>
              <a:t>8. 事务控制与 Service 层</a:t>
            </a:r>
          </a:p>
          <a:p xmlns:a="http://schemas.openxmlformats.org/drawingml/2006/main">
            <a:r>
              <a:rPr lang="en-US"/>
              <a:t>9. 数据访问层深度讲解</a:t>
            </a:r>
          </a:p>
          <a:p xmlns:a="http://schemas.openxmlformats.org/drawingml/2006/main">
            <a:r>
              <a:rPr lang="en-US"/>
              <a:t>10. 后台线程与 UI 更新</a:t>
            </a:r>
          </a:p>
          <a:p xmlns:a="http://schemas.openxmlformats.org/drawingml/2006/main">
            <a:r>
              <a:rPr lang="en-US"/>
              <a:t>11. 分组实战与代码审查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项目业务模块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• 患者管理：档案建立、查询、编辑</a:t>
            </a:r>
          </a:p>
          <a:p xmlns:a="http://schemas.openxmlformats.org/drawingml/2006/main">
            <a:r>
              <a:rPr lang="en-US"/>
              <a:t>• 挂号预约：科室选择、医生排班、预约登记</a:t>
            </a:r>
          </a:p>
          <a:p xmlns:a="http://schemas.openxmlformats.org/drawingml/2006/main">
            <a:r>
              <a:rPr lang="en-US"/>
              <a:t>• 医生工作站：接诊、病历书写、处方开具</a:t>
            </a:r>
          </a:p>
          <a:p xmlns:a="http://schemas.openxmlformats.org/drawingml/2006/main">
            <a:r>
              <a:rPr lang="en-US"/>
              <a:t>• 药品库存：药品入库、出库、库存预警</a:t>
            </a:r>
          </a:p>
          <a:p xmlns:a="http://schemas.openxmlformats.org/drawingml/2006/main">
            <a:r>
              <a:rPr lang="en-US"/>
              <a:t>• 处方管理：处方审核、发药、费用统计</a:t>
            </a:r>
          </a:p>
          <a:p xmlns:a="http://schemas.openxmlformats.org/drawingml/2006/main">
            <a:r>
              <a:rPr lang="en-US"/>
              <a:t/>
            </a:r>
          </a:p>
          <a:p xmlns:a="http://schemas.openxmlformats.org/drawingml/2006/main">
            <a:r>
              <a:rPr lang="en-US"/>
              <a:t>通过真实医疗业务场景，学习完整企业级桌面应用开发流程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技术栈全景</a:t>
            </a:r>
          </a:p>
        </p:txBody>
      </p:sp>
      <p:pic>
        <p:nvPicPr>
          <p:cNvPr id="10000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d5d70759f45d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44000" y="1008000"/>
            <a:ext cx="11880000" cy="7841426"/>
          </a:xfrm>
          <a:prstGeom xmlns:a="http://schemas.openxmlformats.org/drawingml/2006/main"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开发环境与工具链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• JDK 17 LTS + JavaFX 21</a:t>
            </a:r>
          </a:p>
          <a:p xmlns:a="http://schemas.openxmlformats.org/drawingml/2006/main">
            <a:r>
              <a:rPr lang="en-US"/>
              <a:t>• IntelliJ IDEA + SceneBuilder 插件</a:t>
            </a:r>
          </a:p>
          <a:p xmlns:a="http://schemas.openxmlformats.org/drawingml/2006/main">
            <a:r>
              <a:rPr lang="en-US"/>
              <a:t>• Maven 构建工具 + Shade 插件打包 Fat JAR</a:t>
            </a:r>
          </a:p>
          <a:p xmlns:a="http://schemas.openxmlformats.org/drawingml/2006/main">
            <a:r>
              <a:rPr lang="en-US"/>
              <a:t>• MySQL 8.0 数据库</a:t>
            </a:r>
          </a:p>
          <a:p xmlns:a="http://schemas.openxmlformats.org/drawingml/2006/main">
            <a:r>
              <a:rPr lang="en-US"/>
              <a:t>• Git 版本控制与分支协作</a:t>
            </a:r>
          </a:p>
          <a:p xmlns:a="http://schemas.openxmlformats.org/drawingml/2006/main">
            <a:r>
              <a:rPr lang="en-US"/>
              <a:t/>
            </a:r>
          </a:p>
          <a:p xmlns:a="http://schemas.openxmlformats.org/drawingml/2006/main">
            <a:r>
              <a:rPr lang="en-US"/>
              <a:t>开发流程：</a:t>
            </a:r>
          </a:p>
          <a:p xmlns:a="http://schemas.openxmlformats.org/drawingml/2006/main">
            <a:r>
              <a:rPr lang="en-US"/>
              <a:t>mvn clean package → java -jar target/mediCare-1.0.0-SNAPSHOT.jar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Git 分支策略</a:t>
            </a:r>
          </a:p>
        </p:txBody>
      </p:sp>
      <p:pic>
        <p:nvPicPr>
          <p:cNvPr id="10000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a663a19fa423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44000" y="1008000"/>
            <a:ext cx="11880000" cy="5642214"/>
          </a:xfrm>
          <a:prstGeom xmlns:a="http://schemas.openxmlformats.org/drawingml/2006/main"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JavaFX 场景图层级</a:t>
            </a:r>
          </a:p>
        </p:txBody>
      </p:sp>
      <p:pic>
        <p:nvPicPr>
          <p:cNvPr id="10000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1a774ed974f2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44000" y="1008000"/>
            <a:ext cx="11880000" cy="10651493"/>
          </a:xfrm>
          <a:prstGeom xmlns:a="http://schemas.openxmlformats.org/drawingml/2006/main"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BorderPane 五区布局</a:t>
            </a:r>
          </a:p>
        </p:txBody>
      </p:sp>
      <p:pic>
        <p:nvPicPr>
          <p:cNvPr id="10000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969064001421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44000" y="1008000"/>
            <a:ext cx="11880000" cy="10029758"/>
          </a:xfrm>
          <a:prstGeom xmlns:a="http://schemas.openxmlformats.org/drawingml/2006/main"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TableView 数据绑定</a:t>
            </a:r>
          </a:p>
        </p:txBody>
      </p:sp>
      <p:pic>
        <p:nvPicPr>
          <p:cNvPr id="10000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d1bb4ba584eb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44000" y="1008000"/>
            <a:ext cx="11880000" cy="5876696"/>
          </a:xfrm>
          <a:prstGeom xmlns:a="http://schemas.openxmlformats.org/drawingml/2006/main"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四层架构职责边界</a:t>
            </a:r>
          </a:p>
        </p:txBody>
      </p:sp>
      <p:pic>
        <p:nvPicPr>
          <p:cNvPr id="10000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8a6513aaf4c8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44000" y="1008000"/>
            <a:ext cx="11880000" cy="5658947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1A1A2E"/>
      </a:lt1>
      <a:dk2>
        <a:srgbClr val="44546A"/>
      </a:dk2>
      <a:lt2>
        <a:srgbClr val="E7E6E6"/>
      </a:lt2>
      <a:accent1>
        <a:srgbClr val="00A8E8"/>
      </a:accent1>
      <a:accent2>
        <a:srgbClr val="007EA7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OfficeCLI/1.0.111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MediCare 讲师团</dc:creator>
  <dcterms:created xsi:type="dcterms:W3CDTF">2026-06-13T12:21:34.0000000Z</dcterms:created>
  <lastModifiedBy>OfficeCLI</lastModifiedBy>
  <dcterms:modified xsi:type="dcterms:W3CDTF">2026-06-13T12:21:34.7541680Z</dcterms:modified>
  <dc:title>JavaFX 桌面应用开发与分层架构实战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1.0.111</vt:lpwstr>
  </op:property>
  <op:property fmtid="{D5CDD505-2E9C-101B-9397-08002B2CF9AE}" pid="3" name="OfficeCLI.LastModified">
    <vt:lpwstr xmlns:vt="http://schemas.openxmlformats.org/officeDocument/2006/docPropsVTypes">2026-06-13T12:25:18Z</vt:lpwstr>
  </op:property>
</op:Properties>
</file>